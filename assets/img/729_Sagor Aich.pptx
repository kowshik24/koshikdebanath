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64" r:id="rId6"/>
    <p:sldId id="273" r:id="rId7"/>
    <p:sldId id="272" r:id="rId8"/>
    <p:sldId id="266" r:id="rId9"/>
    <p:sldId id="284" r:id="rId10"/>
    <p:sldId id="269" r:id="rId11"/>
    <p:sldId id="276" r:id="rId12"/>
    <p:sldId id="279" r:id="rId13"/>
    <p:sldId id="281" r:id="rId14"/>
    <p:sldId id="282" r:id="rId15"/>
    <p:sldId id="278" r:id="rId16"/>
    <p:sldId id="277" r:id="rId17"/>
    <p:sldId id="275" r:id="rId18"/>
    <p:sldId id="283" r:id="rId19"/>
    <p:sldId id="267" r:id="rId20"/>
    <p:sldId id="268" r:id="rId21"/>
    <p:sldId id="270" r:id="rId22"/>
    <p:sldId id="263" r:id="rId23"/>
  </p:sldIdLst>
  <p:sldSz cx="12192000" cy="6858000"/>
  <p:notesSz cx="6858000" cy="9144000"/>
  <p:defaultTextStyle>
    <a:defPPr>
      <a:defRPr lang="bn-B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F8179-02F9-441E-8E47-F578BD3ADF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14745C-52C1-4323-9F69-1752A03422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b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C3DF1-2C45-4DB9-9548-FCDC2EB26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8372E-D3B6-4A7A-89D7-A3CDAFA4ED89}" type="datetimeFigureOut">
              <a:rPr lang="bn-BD" smtClean="0"/>
              <a:t>14/8/1446</a:t>
            </a:fld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10F85-63F6-4509-8898-04076FC2B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946AE-6D1F-4897-B61F-54B86BB82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19B5-3824-4919-8040-5D968D481FAB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3810338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90C1-5E08-4243-9145-C65B546AA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361A1-CBCC-47EF-9C7F-9994D5AFE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1259C-B4B9-46A5-B752-E7BB3B543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8372E-D3B6-4A7A-89D7-A3CDAFA4ED89}" type="datetimeFigureOut">
              <a:rPr lang="bn-BD" smtClean="0"/>
              <a:t>14/8/1446</a:t>
            </a:fld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DA7FD-6E26-49BC-AE64-7B2FE15E2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32BC2-B4FE-4790-836D-E92B2937C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19B5-3824-4919-8040-5D968D481FAB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1553173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4D62F-74D4-44F5-9BCD-B03FE09D5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37979-7C38-4372-907E-8DD22B976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A9A9C-392C-41CD-8D1C-926810783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8372E-D3B6-4A7A-89D7-A3CDAFA4ED89}" type="datetimeFigureOut">
              <a:rPr lang="bn-BD" smtClean="0"/>
              <a:t>14/8/1446</a:t>
            </a:fld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AD0A3-CD53-4B62-AF8A-D6DEF7BD0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4CE5F-B3AA-4020-A049-798DF4B6E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19B5-3824-4919-8040-5D968D481FAB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2454411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458C3-7DDD-4318-B0BE-9CA3F5DD0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8AA7F-A0BA-4DF8-AA4E-486700196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3A86BB-8C75-49A3-921B-E53D06742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C37260-0B3D-4ADF-9F1A-BCC46436D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8372E-D3B6-4A7A-89D7-A3CDAFA4ED89}" type="datetimeFigureOut">
              <a:rPr lang="bn-BD" smtClean="0"/>
              <a:t>14/8/1446</a:t>
            </a:fld>
            <a:endParaRPr lang="b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BA7183-9C5F-49C4-8255-80C0A4C8F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7D4C9-AAC4-4FFC-9C5A-3287737C1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19B5-3824-4919-8040-5D968D481FAB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2102169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AF585-1291-48C7-B4E9-A5DDB0468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C8E03C-295D-4FFE-A3D8-55226D186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63AFA0-DB93-4688-ABE8-E8D9F77E8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A768BC-1645-4E4C-98CE-C70B032AF9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19EA0C-CD17-4C07-B004-2BD655D5B3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4888E4-5037-41FF-9420-B21FA17C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8372E-D3B6-4A7A-89D7-A3CDAFA4ED89}" type="datetimeFigureOut">
              <a:rPr lang="bn-BD" smtClean="0"/>
              <a:t>14/8/1446</a:t>
            </a:fld>
            <a:endParaRPr lang="bn-B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B1D53-3D06-437E-A7CE-CA7A3E7D4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28860E-D384-4BFE-B8A7-BF217321A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19B5-3824-4919-8040-5D968D481FAB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2782885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D1C21-FADF-455F-BCB1-E4E685B26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84CDAE-CEBA-4EA6-B759-4D0A037FB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8372E-D3B6-4A7A-89D7-A3CDAFA4ED89}" type="datetimeFigureOut">
              <a:rPr lang="bn-BD" smtClean="0"/>
              <a:t>14/8/1446</a:t>
            </a:fld>
            <a:endParaRPr lang="bn-B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823ECE-C53B-4252-AAA8-E4E7C1A2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60EAD8-9D3B-41AD-BA46-4EA7E2176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19B5-3824-4919-8040-5D968D481FAB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1936562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0B5F4A-4B0E-462E-B5E7-E9B840818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8372E-D3B6-4A7A-89D7-A3CDAFA4ED89}" type="datetimeFigureOut">
              <a:rPr lang="bn-BD" smtClean="0"/>
              <a:t>14/8/1446</a:t>
            </a:fld>
            <a:endParaRPr lang="bn-B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D94426-ED3F-4948-A97E-CEF803C73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BB81D-5E01-4854-89E3-84FB00EE0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19B5-3824-4919-8040-5D968D481FAB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1450012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7CCDC-D133-4607-82AF-F7244C568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ED3BC-6DE1-486A-916B-21B6A7942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21CABD-957A-4123-B579-C2200C36C3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8A9D9A-1415-4520-9AA1-1AEFFE2D2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8372E-D3B6-4A7A-89D7-A3CDAFA4ED89}" type="datetimeFigureOut">
              <a:rPr lang="bn-BD" smtClean="0"/>
              <a:t>14/8/1446</a:t>
            </a:fld>
            <a:endParaRPr lang="b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9DBD69-6A7C-4FE8-AF43-4F1882DE2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BDF1D9-B414-4470-9DA9-2B0799172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19B5-3824-4919-8040-5D968D481FAB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2111458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EB571-3D7A-4C8E-95BC-FB74B2841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236F29-9697-44CE-9840-8092C4140A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n-B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9B66B-64BB-479B-B57C-EAE7B40DB7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36B321-3E7D-4898-985F-218E80A6B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8372E-D3B6-4A7A-89D7-A3CDAFA4ED89}" type="datetimeFigureOut">
              <a:rPr lang="bn-BD" smtClean="0"/>
              <a:t>14/8/1446</a:t>
            </a:fld>
            <a:endParaRPr lang="b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3DF18-030E-44B4-BF42-5CA7782AD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20A0B5-C88F-4D78-80FC-B966112F1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19B5-3824-4919-8040-5D968D481FAB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1717692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C8ECA-8BA3-43EF-B3EA-6A6EDEF02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5EEBBE-28F1-4B28-93CE-938CA6E79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17880-E20A-479D-B337-0B4091E6C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8372E-D3B6-4A7A-89D7-A3CDAFA4ED89}" type="datetimeFigureOut">
              <a:rPr lang="bn-BD" smtClean="0"/>
              <a:t>14/8/1446</a:t>
            </a:fld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80710-1363-4F69-A224-0838D1A04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C6EAD-C7B7-43EC-A59B-EA5C740B2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19B5-3824-4919-8040-5D968D481FAB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2093685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7515FA-EBA5-41CE-B636-E2A44E1EA9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E9F790-2827-4DF6-9D89-83E35425CD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84142-505E-4AD5-A887-2AB63AC58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8372E-D3B6-4A7A-89D7-A3CDAFA4ED89}" type="datetimeFigureOut">
              <a:rPr lang="bn-BD" smtClean="0"/>
              <a:t>14/8/1446</a:t>
            </a:fld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E9C5A-9CF6-4DA0-BDC1-3F7CED1BE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9B554-EE86-4D50-B2E4-38FAADB3B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19B5-3824-4919-8040-5D968D481FAB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1710561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67C7AE-B5CB-4B61-BB6D-91721164D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3B13D4-7583-4C67-9EF6-1CAE53275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F6391-726B-40DE-89A4-80401B4805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C8372E-D3B6-4A7A-89D7-A3CDAFA4ED89}" type="datetimeFigureOut">
              <a:rPr lang="bn-BD" smtClean="0"/>
              <a:t>14/8/1446</a:t>
            </a:fld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B9AAA-76B9-46A4-AC22-F44D9B81F7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6C92A-1595-4772-8A1A-2BB9CD1FC6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F419B5-3824-4919-8040-5D968D481FAB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2666163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n-B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mendeley.com/datasets/7rx9mk8v4m/3" TargetMode="External"/><Relationship Id="rId2" Type="http://schemas.openxmlformats.org/officeDocument/2006/relationships/hyperlink" Target="https://www.researchgate.net/figure/BERT-model-architecture_fig4_348740926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8478D28-4992-4071-83AD-8614D385D0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09225" y="3296137"/>
            <a:ext cx="9144000" cy="1655762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Distinguishing Between Formal and Colloquial: A Multilingual BERT Approach to Bengali Language Classification</a:t>
            </a:r>
            <a:endParaRPr lang="bn-BD" sz="1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B467FC4-97B1-4FEE-831D-1598554143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020674"/>
              </p:ext>
            </p:extLst>
          </p:nvPr>
        </p:nvGraphicFramePr>
        <p:xfrm>
          <a:off x="1696440" y="5190465"/>
          <a:ext cx="10014591" cy="1236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8197">
                  <a:extLst>
                    <a:ext uri="{9D8B030D-6E8A-4147-A177-3AD203B41FA5}">
                      <a16:colId xmlns:a16="http://schemas.microsoft.com/office/drawing/2014/main" val="947657022"/>
                    </a:ext>
                  </a:extLst>
                </a:gridCol>
                <a:gridCol w="3338197">
                  <a:extLst>
                    <a:ext uri="{9D8B030D-6E8A-4147-A177-3AD203B41FA5}">
                      <a16:colId xmlns:a16="http://schemas.microsoft.com/office/drawing/2014/main" val="1042923146"/>
                    </a:ext>
                  </a:extLst>
                </a:gridCol>
                <a:gridCol w="3338197">
                  <a:extLst>
                    <a:ext uri="{9D8B030D-6E8A-4147-A177-3AD203B41FA5}">
                      <a16:colId xmlns:a16="http://schemas.microsoft.com/office/drawing/2014/main" val="1431525597"/>
                    </a:ext>
                  </a:extLst>
                </a:gridCol>
              </a:tblGrid>
              <a:tr h="1236535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Sagor Aich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Dept. of CSE, RUET.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sagor.aichh@gmail.com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Koshik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Debanath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Dept. of CSE, RUET.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koshik.debanath@gmail.com</a:t>
                      </a:r>
                      <a:endParaRPr lang="bn-BD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Azmain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Yakin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Srizon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Assistant Professor,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Dept. of CSE, RUET.</a:t>
                      </a:r>
                      <a:endParaRPr lang="bn-BD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azmainsrizon@gmail.com</a:t>
                      </a:r>
                      <a:endParaRPr lang="bn-BD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3622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73BE424-832E-4E91-8B43-BD20D7C7F0F7}"/>
              </a:ext>
            </a:extLst>
          </p:cNvPr>
          <p:cNvSpPr txBox="1"/>
          <p:nvPr/>
        </p:nvSpPr>
        <p:spPr>
          <a:xfrm>
            <a:off x="3181525" y="4613345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</a:t>
            </a:r>
            <a:endParaRPr lang="bn-BD" sz="1600" b="1" dirty="0">
              <a:latin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A16840-2E19-48AF-B754-E9E5FE213B09}"/>
              </a:ext>
            </a:extLst>
          </p:cNvPr>
          <p:cNvSpPr txBox="1"/>
          <p:nvPr/>
        </p:nvSpPr>
        <p:spPr>
          <a:xfrm>
            <a:off x="815972" y="1889473"/>
            <a:ext cx="1082570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4th International Conference on Electrical, Computer and Communication Engineering (ECCE)</a:t>
            </a:r>
          </a:p>
          <a:p>
            <a:pPr algn="ctr"/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Chittagong University of Engineering &amp; Technology, Bangladesh.</a:t>
            </a:r>
          </a:p>
          <a:p>
            <a:pPr algn="ctr"/>
            <a:endParaRPr lang="bn-BD" sz="2000" b="1" dirty="0">
              <a:latin typeface="Times New Roman" panose="02020603050405020304" pitchFamily="18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C7F5297-8292-4537-8139-623F788F5A80}"/>
              </a:ext>
            </a:extLst>
          </p:cNvPr>
          <p:cNvCxnSpPr>
            <a:cxnSpLocks/>
          </p:cNvCxnSpPr>
          <p:nvPr/>
        </p:nvCxnSpPr>
        <p:spPr>
          <a:xfrm>
            <a:off x="1100831" y="2789709"/>
            <a:ext cx="99429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78B6A909-F9EA-4EF8-B0E5-4034B1BE7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3580" y="751160"/>
            <a:ext cx="2104839" cy="125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5613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0AD6DC2-119C-45E4-A795-9FC9E0B0E770}"/>
              </a:ext>
            </a:extLst>
          </p:cNvPr>
          <p:cNvCxnSpPr>
            <a:cxnSpLocks/>
          </p:cNvCxnSpPr>
          <p:nvPr/>
        </p:nvCxnSpPr>
        <p:spPr>
          <a:xfrm>
            <a:off x="1100831" y="1460298"/>
            <a:ext cx="99429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D58B4908-FD96-448C-BE52-7615D00BBDC5}"/>
              </a:ext>
            </a:extLst>
          </p:cNvPr>
          <p:cNvSpPr/>
          <p:nvPr/>
        </p:nvSpPr>
        <p:spPr>
          <a:xfrm>
            <a:off x="4753251" y="689256"/>
            <a:ext cx="245541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3D8E1C-19E3-4B6D-A5C2-A77629AAD702}"/>
              </a:ext>
            </a:extLst>
          </p:cNvPr>
          <p:cNvSpPr/>
          <p:nvPr/>
        </p:nvSpPr>
        <p:spPr>
          <a:xfrm>
            <a:off x="2387949" y="1523456"/>
            <a:ext cx="3996074" cy="46020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200" dirty="0"/>
              <a:t>Problem Statement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analysis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32E31AFE-DAD6-45A5-B512-B284DE822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4DDEA57-F1D4-4725-85C7-831E065B211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501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83F672-9ED4-49CD-91F1-9D1BCB96C383}"/>
              </a:ext>
            </a:extLst>
          </p:cNvPr>
          <p:cNvSpPr/>
          <p:nvPr/>
        </p:nvSpPr>
        <p:spPr>
          <a:xfrm>
            <a:off x="4498018" y="288893"/>
            <a:ext cx="2900038" cy="1135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7D1503C-DB37-44DB-88F8-9AD6DFDBB45E}"/>
              </a:ext>
            </a:extLst>
          </p:cNvPr>
          <p:cNvCxnSpPr>
            <a:cxnSpLocks/>
          </p:cNvCxnSpPr>
          <p:nvPr/>
        </p:nvCxnSpPr>
        <p:spPr>
          <a:xfrm>
            <a:off x="1100831" y="1415906"/>
            <a:ext cx="99429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7755B7A-3420-4EA5-AB7E-35CD21E4064E}"/>
              </a:ext>
            </a:extLst>
          </p:cNvPr>
          <p:cNvSpPr txBox="1"/>
          <p:nvPr/>
        </p:nvSpPr>
        <p:spPr>
          <a:xfrm>
            <a:off x="1585519" y="1686080"/>
            <a:ext cx="950852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/>
              <a:t>Bengali language, rich in history and cultural significance, poses unique challenges in Natural Language Processing (NLP) due to its dual-register structure: Sadhu (formal) and </a:t>
            </a:r>
            <a:r>
              <a:rPr lang="en-US" dirty="0" err="1"/>
              <a:t>Cholit</a:t>
            </a:r>
            <a:r>
              <a:rPr lang="en-US" dirty="0"/>
              <a:t> (colloquial).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/>
              <a:t>‘Sadhu’ (formal) and ‘</a:t>
            </a:r>
            <a:r>
              <a:rPr lang="en-US" dirty="0" err="1"/>
              <a:t>Cholit</a:t>
            </a:r>
            <a:r>
              <a:rPr lang="en-US" dirty="0"/>
              <a:t>’ (colloquial), differing in syntax, vocabulary, and usage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/>
              <a:t>Bengali Language Classification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462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83F672-9ED4-49CD-91F1-9D1BCB96C383}"/>
              </a:ext>
            </a:extLst>
          </p:cNvPr>
          <p:cNvSpPr/>
          <p:nvPr/>
        </p:nvSpPr>
        <p:spPr>
          <a:xfrm>
            <a:off x="4498017" y="288893"/>
            <a:ext cx="4234922" cy="1147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7D1503C-DB37-44DB-88F8-9AD6DFDBB45E}"/>
              </a:ext>
            </a:extLst>
          </p:cNvPr>
          <p:cNvCxnSpPr>
            <a:cxnSpLocks/>
          </p:cNvCxnSpPr>
          <p:nvPr/>
        </p:nvCxnSpPr>
        <p:spPr>
          <a:xfrm>
            <a:off x="1100831" y="1415906"/>
            <a:ext cx="99429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5EE6ED2-5AD6-45AD-BD76-680C6B2D6E79}"/>
              </a:ext>
            </a:extLst>
          </p:cNvPr>
          <p:cNvSpPr txBox="1"/>
          <p:nvPr/>
        </p:nvSpPr>
        <p:spPr>
          <a:xfrm>
            <a:off x="2088859" y="1951672"/>
            <a:ext cx="914790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NLP models fail to accurately classify Bengali text into Sadhu 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Cholit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datasets available for effective training.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fine-tuned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mBERT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that can accurately classify Bengali text</a:t>
            </a:r>
            <a:endParaRPr lang="bn-BD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1318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83F672-9ED4-49CD-91F1-9D1BCB96C383}"/>
              </a:ext>
            </a:extLst>
          </p:cNvPr>
          <p:cNvSpPr/>
          <p:nvPr/>
        </p:nvSpPr>
        <p:spPr>
          <a:xfrm>
            <a:off x="4498018" y="288893"/>
            <a:ext cx="2900038" cy="1147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4000" dirty="0"/>
              <a:t>Related work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7D1503C-DB37-44DB-88F8-9AD6DFDBB45E}"/>
              </a:ext>
            </a:extLst>
          </p:cNvPr>
          <p:cNvCxnSpPr>
            <a:cxnSpLocks/>
          </p:cNvCxnSpPr>
          <p:nvPr/>
        </p:nvCxnSpPr>
        <p:spPr>
          <a:xfrm>
            <a:off x="1100831" y="1415906"/>
            <a:ext cx="99429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6D56D207-58B7-424A-8374-1531C617FB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153" y="3131151"/>
            <a:ext cx="4857225" cy="27321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18D5BDD-FA9F-45F6-8544-608C1D64CA29}"/>
              </a:ext>
            </a:extLst>
          </p:cNvPr>
          <p:cNvSpPr txBox="1"/>
          <p:nvPr/>
        </p:nvSpPr>
        <p:spPr>
          <a:xfrm>
            <a:off x="2331439" y="1519924"/>
            <a:ext cx="78192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dirty="0"/>
              <a:t>Learning long-term dependencies with gradient descent is difficult [1]</a:t>
            </a:r>
            <a:endParaRPr lang="en-US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Generating Sequences With Recurrent Neural Networks [2]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6EBFBB-B7B5-4F9E-A58A-3050BA94DC68}"/>
              </a:ext>
            </a:extLst>
          </p:cNvPr>
          <p:cNvSpPr txBox="1"/>
          <p:nvPr/>
        </p:nvSpPr>
        <p:spPr>
          <a:xfrm>
            <a:off x="2368233" y="5593096"/>
            <a:ext cx="71596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1: Architecture of Recurrent Neural Networks for Sequential Data Processing</a:t>
            </a:r>
            <a:endParaRPr lang="bn-BD" sz="16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3363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83F672-9ED4-49CD-91F1-9D1BCB96C383}"/>
              </a:ext>
            </a:extLst>
          </p:cNvPr>
          <p:cNvSpPr/>
          <p:nvPr/>
        </p:nvSpPr>
        <p:spPr>
          <a:xfrm>
            <a:off x="4498018" y="288893"/>
            <a:ext cx="2900038" cy="1147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4000" dirty="0"/>
              <a:t>Related work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7D1503C-DB37-44DB-88F8-9AD6DFDBB45E}"/>
              </a:ext>
            </a:extLst>
          </p:cNvPr>
          <p:cNvCxnSpPr>
            <a:cxnSpLocks/>
          </p:cNvCxnSpPr>
          <p:nvPr/>
        </p:nvCxnSpPr>
        <p:spPr>
          <a:xfrm>
            <a:off x="1100831" y="1415906"/>
            <a:ext cx="99429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0332A84-7F7A-434D-9D40-C04AB2F7D5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4536" y="3088091"/>
            <a:ext cx="5461233" cy="30719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A73509-9788-4356-B246-C892D1221AC8}"/>
              </a:ext>
            </a:extLst>
          </p:cNvPr>
          <p:cNvSpPr txBox="1"/>
          <p:nvPr/>
        </p:nvSpPr>
        <p:spPr>
          <a:xfrm>
            <a:off x="1811963" y="5642476"/>
            <a:ext cx="90463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2: Long Short-Term Memory (LSTM) Network Architecture for Capturing Long-Range Dependencies</a:t>
            </a:r>
            <a:endParaRPr lang="bn-BD" sz="1600" dirty="0">
              <a:latin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D3028A-E819-4A14-9670-6CC1DB523E10}"/>
              </a:ext>
            </a:extLst>
          </p:cNvPr>
          <p:cNvSpPr txBox="1"/>
          <p:nvPr/>
        </p:nvSpPr>
        <p:spPr>
          <a:xfrm>
            <a:off x="2074952" y="1663450"/>
            <a:ext cx="85203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where  sentiment analysis [3] and parts-of-speech tagging [4] were done using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Short-Term Memory </a:t>
            </a:r>
            <a:endParaRPr lang="bn-BD" dirty="0">
              <a:latin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838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83F672-9ED4-49CD-91F1-9D1BCB96C383}"/>
              </a:ext>
            </a:extLst>
          </p:cNvPr>
          <p:cNvSpPr/>
          <p:nvPr/>
        </p:nvSpPr>
        <p:spPr>
          <a:xfrm>
            <a:off x="4498018" y="288893"/>
            <a:ext cx="2900038" cy="1147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4000" dirty="0"/>
              <a:t>Related work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7D1503C-DB37-44DB-88F8-9AD6DFDBB45E}"/>
              </a:ext>
            </a:extLst>
          </p:cNvPr>
          <p:cNvCxnSpPr>
            <a:cxnSpLocks/>
          </p:cNvCxnSpPr>
          <p:nvPr/>
        </p:nvCxnSpPr>
        <p:spPr>
          <a:xfrm>
            <a:off x="1100831" y="1415906"/>
            <a:ext cx="99429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63CB971-7CF4-47A6-AD20-1C2691E1B693}"/>
              </a:ext>
            </a:extLst>
          </p:cNvPr>
          <p:cNvSpPr txBox="1"/>
          <p:nvPr/>
        </p:nvSpPr>
        <p:spPr>
          <a:xfrm>
            <a:off x="2183235" y="1590290"/>
            <a:ext cx="80513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cross-language text generation, hate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</a:t>
            </a:r>
            <a:r>
              <a:rPr lang="en-US" dirty="0"/>
              <a:t> detection, text classification [5]</a:t>
            </a:r>
            <a:endParaRPr lang="bn-B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A696F0-6068-4E14-A497-FE596D931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963" y="2580072"/>
            <a:ext cx="2536148" cy="28620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60AAD43-BDF6-457F-BED4-2DFD0B8195A8}"/>
              </a:ext>
            </a:extLst>
          </p:cNvPr>
          <p:cNvSpPr txBox="1"/>
          <p:nvPr/>
        </p:nvSpPr>
        <p:spPr>
          <a:xfrm>
            <a:off x="4749051" y="5818963"/>
            <a:ext cx="38851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3 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mBERT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 [6]</a:t>
            </a:r>
            <a:endParaRPr lang="bn-BD" sz="16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1135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83F672-9ED4-49CD-91F1-9D1BCB96C383}"/>
              </a:ext>
            </a:extLst>
          </p:cNvPr>
          <p:cNvSpPr/>
          <p:nvPr/>
        </p:nvSpPr>
        <p:spPr>
          <a:xfrm>
            <a:off x="4263127" y="708020"/>
            <a:ext cx="441109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7D1503C-DB37-44DB-88F8-9AD6DFDBB45E}"/>
              </a:ext>
            </a:extLst>
          </p:cNvPr>
          <p:cNvCxnSpPr>
            <a:cxnSpLocks/>
          </p:cNvCxnSpPr>
          <p:nvPr/>
        </p:nvCxnSpPr>
        <p:spPr>
          <a:xfrm>
            <a:off x="1100831" y="1415906"/>
            <a:ext cx="99429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333473B-8251-4BE0-AF8D-B12DC4602D47}"/>
              </a:ext>
            </a:extLst>
          </p:cNvPr>
          <p:cNvSpPr txBox="1"/>
          <p:nvPr/>
        </p:nvSpPr>
        <p:spPr>
          <a:xfrm>
            <a:off x="1562226" y="1571509"/>
            <a:ext cx="101674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 dataset from Mendeley [7]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used in this study, titled ”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BanglaBlend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Large-Scale Novel Dataset of Bangla Sentences Categorized by Saint (Sadhu) and Common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Cholit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Form of Bengali Language”</a:t>
            </a:r>
            <a:endParaRPr lang="bn-BD" dirty="0">
              <a:latin typeface="Times New Roman" panose="02020603050405020304" pitchFamily="18" charset="0"/>
            </a:endParaRP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400CB095-09E7-4EF1-AD71-EC08C9BD11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561867"/>
              </p:ext>
            </p:extLst>
          </p:nvPr>
        </p:nvGraphicFramePr>
        <p:xfrm>
          <a:off x="3185953" y="4289425"/>
          <a:ext cx="5488264" cy="1152669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744132">
                  <a:extLst>
                    <a:ext uri="{9D8B030D-6E8A-4147-A177-3AD203B41FA5}">
                      <a16:colId xmlns:a16="http://schemas.microsoft.com/office/drawing/2014/main" val="3390110072"/>
                    </a:ext>
                  </a:extLst>
                </a:gridCol>
                <a:gridCol w="2744132">
                  <a:extLst>
                    <a:ext uri="{9D8B030D-6E8A-4147-A177-3AD203B41FA5}">
                      <a16:colId xmlns:a16="http://schemas.microsoft.com/office/drawing/2014/main" val="3624956192"/>
                    </a:ext>
                  </a:extLst>
                </a:gridCol>
              </a:tblGrid>
              <a:tr h="28262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</a:t>
                      </a:r>
                      <a:endParaRPr lang="bn-BD" sz="140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Instances </a:t>
                      </a:r>
                      <a:endParaRPr lang="bn-BD" sz="140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933137"/>
                  </a:ext>
                </a:extLst>
              </a:tr>
              <a:tr h="28262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Data</a:t>
                      </a:r>
                      <a:endParaRPr lang="bn-BD" sz="120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7350</a:t>
                      </a:r>
                      <a:endParaRPr lang="bn-BD" sz="120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776835"/>
                  </a:ext>
                </a:extLst>
              </a:tr>
              <a:tr h="28262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Sadhu</a:t>
                      </a:r>
                      <a:endParaRPr lang="bn-BD" sz="120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3675</a:t>
                      </a:r>
                      <a:endParaRPr lang="bn-BD" sz="120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469950"/>
                  </a:ext>
                </a:extLst>
              </a:tr>
              <a:tr h="28262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Cholit</a:t>
                      </a:r>
                      <a:endParaRPr lang="bn-BD" sz="120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3675</a:t>
                      </a:r>
                      <a:endParaRPr lang="bn-BD" sz="120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37167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FC88148-12AF-422E-9122-48A4435C374C}"/>
              </a:ext>
            </a:extLst>
          </p:cNvPr>
          <p:cNvSpPr txBox="1"/>
          <p:nvPr/>
        </p:nvSpPr>
        <p:spPr>
          <a:xfrm>
            <a:off x="3157289" y="3878528"/>
            <a:ext cx="64385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 : Class Distribution of Dataset for Sadhu and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Cholit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Styles</a:t>
            </a:r>
            <a:endParaRPr lang="bn-BD" sz="16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807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7D1503C-DB37-44DB-88F8-9AD6DFDBB45E}"/>
              </a:ext>
            </a:extLst>
          </p:cNvPr>
          <p:cNvCxnSpPr>
            <a:cxnSpLocks/>
          </p:cNvCxnSpPr>
          <p:nvPr/>
        </p:nvCxnSpPr>
        <p:spPr>
          <a:xfrm>
            <a:off x="1100831" y="1415906"/>
            <a:ext cx="99429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54FE2F53-800F-4FD4-8D01-939FF99858B6}"/>
              </a:ext>
            </a:extLst>
          </p:cNvPr>
          <p:cNvSpPr/>
          <p:nvPr/>
        </p:nvSpPr>
        <p:spPr>
          <a:xfrm>
            <a:off x="3866781" y="624130"/>
            <a:ext cx="441109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99A6F5-9131-4C2B-B850-57B41DDADDA5}"/>
              </a:ext>
            </a:extLst>
          </p:cNvPr>
          <p:cNvSpPr txBox="1"/>
          <p:nvPr/>
        </p:nvSpPr>
        <p:spPr>
          <a:xfrm>
            <a:off x="2721973" y="2437887"/>
            <a:ext cx="74389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2 : Sample Sentences Demonstrating Sadhu and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Cholit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Styles in Bengali</a:t>
            </a:r>
            <a:endParaRPr lang="bn-BD" sz="16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2FA89682-30FC-49D0-AEFF-DBDAAF09CB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876494"/>
              </p:ext>
            </p:extLst>
          </p:nvPr>
        </p:nvGraphicFramePr>
        <p:xfrm>
          <a:off x="2120093" y="2991298"/>
          <a:ext cx="8374534" cy="172052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31651">
                  <a:extLst>
                    <a:ext uri="{9D8B030D-6E8A-4147-A177-3AD203B41FA5}">
                      <a16:colId xmlns:a16="http://schemas.microsoft.com/office/drawing/2014/main" val="2478995219"/>
                    </a:ext>
                  </a:extLst>
                </a:gridCol>
                <a:gridCol w="7242883">
                  <a:extLst>
                    <a:ext uri="{9D8B030D-6E8A-4147-A177-3AD203B41FA5}">
                      <a16:colId xmlns:a16="http://schemas.microsoft.com/office/drawing/2014/main" val="556950971"/>
                    </a:ext>
                  </a:extLst>
                </a:gridCol>
              </a:tblGrid>
              <a:tr h="16781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Category</a:t>
                      </a:r>
                      <a:endParaRPr lang="bn-BD" sz="110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Sample Sentences</a:t>
                      </a:r>
                      <a:endParaRPr lang="bn-BD" sz="110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7269308"/>
                  </a:ext>
                </a:extLst>
              </a:tr>
              <a:tr h="730721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Sadhu</a:t>
                      </a:r>
                      <a:endParaRPr lang="bn-BD" sz="110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bn-BD" sz="1100" dirty="0"/>
                        <a:t>‘সেখানকার জানালা দিয়ে সমুদ্র দেখা যাইতেছিল’,</a:t>
                      </a:r>
                      <a:r>
                        <a:rPr lang="en-US" sz="1100" dirty="0"/>
                        <a:t> </a:t>
                      </a:r>
                      <a:r>
                        <a:rPr lang="bn-BD" sz="1100" dirty="0"/>
                        <a:t>‘আমি কিছু দেখিতে পারিতেছি না’,</a:t>
                      </a:r>
                      <a:r>
                        <a:rPr lang="en-US" sz="1100" dirty="0"/>
                        <a:t> </a:t>
                      </a:r>
                      <a:r>
                        <a:rPr lang="bn-BD" sz="1100" dirty="0"/>
                        <a:t>‘সকলেরই অনাবৃত দেহ সকলের সেই অনাবৃত বক্ষে আরশির ধুকধুকি চন্দ্রকিরণে এক একবার জ্বলিয়া উঠিতেছে’, ‘মেয়েটি সেদিন ভিক্ষুককে সাহায্য করিয়াছিল’,         ‘তুমি প্রশংসা কর না কর বৃদ্ধ বসিয়া তোমায় পুরাতন কথা শুনাইবে’</a:t>
                      </a:r>
                      <a:endParaRPr lang="bn-BD" sz="1100" dirty="0">
                        <a:latin typeface="Times New Roman" panose="02020603050405020304" pitchFamily="18" charset="0"/>
                        <a:cs typeface="Shonar Bangla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008166"/>
                  </a:ext>
                </a:extLst>
              </a:tr>
              <a:tr h="730721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Cholit</a:t>
                      </a:r>
                      <a:endParaRPr lang="bn-BD" sz="110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bn-BD" sz="1100" dirty="0"/>
                        <a:t>‘নিজেকে আপনার মূল্যবোধের প্রতি সত্য থাকুন অন্য কারো জন্য আপনি কে আপস করবেন না’, ‘আমি গোসল করে খেতে যাব’,</a:t>
                      </a:r>
                      <a:r>
                        <a:rPr lang="en-US" sz="1100" dirty="0"/>
                        <a:t> </a:t>
                      </a:r>
                      <a:r>
                        <a:rPr lang="bn-BD" sz="1100" dirty="0"/>
                        <a:t>‘সংবাদপত্রে স্বাধীনতা আন্দোলনের বিভিন্ন সংবাদ ছাপা হতো’,</a:t>
                      </a:r>
                      <a:r>
                        <a:rPr lang="en-US" sz="1100" dirty="0"/>
                        <a:t> </a:t>
                      </a:r>
                      <a:r>
                        <a:rPr lang="bn-BD" sz="1100" dirty="0"/>
                        <a:t>‘তাকে বলা যায় টারজান জীবনের চেয়েও বড় একজন মহানায়ক’,</a:t>
                      </a:r>
                      <a:r>
                        <a:rPr lang="en-US" sz="1100" dirty="0"/>
                        <a:t> </a:t>
                      </a:r>
                      <a:r>
                        <a:rPr lang="bn-BD" sz="1100" dirty="0"/>
                        <a:t>‘আমি এই ছুটিতে পরিবারের সাথে ঘুরতে গিয়েছিলাম’</a:t>
                      </a:r>
                      <a:endParaRPr lang="bn-BD" sz="1100" dirty="0">
                        <a:latin typeface="Times New Roman" panose="02020603050405020304" pitchFamily="18" charset="0"/>
                        <a:cs typeface="Shonar Bangla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472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0255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83F672-9ED4-49CD-91F1-9D1BCB96C383}"/>
              </a:ext>
            </a:extLst>
          </p:cNvPr>
          <p:cNvSpPr/>
          <p:nvPr/>
        </p:nvSpPr>
        <p:spPr>
          <a:xfrm>
            <a:off x="4385405" y="439895"/>
            <a:ext cx="3421189" cy="905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FF3300"/>
              </a:buClr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7D1503C-DB37-44DB-88F8-9AD6DFDBB45E}"/>
              </a:ext>
            </a:extLst>
          </p:cNvPr>
          <p:cNvCxnSpPr>
            <a:cxnSpLocks/>
          </p:cNvCxnSpPr>
          <p:nvPr/>
        </p:nvCxnSpPr>
        <p:spPr>
          <a:xfrm>
            <a:off x="1100831" y="1415906"/>
            <a:ext cx="99429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C5BA966-097E-4970-B18B-B781ED3F5B71}"/>
              </a:ext>
            </a:extLst>
          </p:cNvPr>
          <p:cNvSpPr txBox="1"/>
          <p:nvPr/>
        </p:nvSpPr>
        <p:spPr>
          <a:xfrm>
            <a:off x="1119707" y="1760152"/>
            <a:ext cx="60946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Loading and Splitting: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2F1E3F-14E4-4987-A3FE-38C403955C48}"/>
              </a:ext>
            </a:extLst>
          </p:cNvPr>
          <p:cNvSpPr txBox="1"/>
          <p:nvPr/>
        </p:nvSpPr>
        <p:spPr>
          <a:xfrm>
            <a:off x="3273804" y="2329874"/>
            <a:ext cx="69523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Excel file containing Bengali sentences and their corresponding class labels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Pandas library, the data is read and prepared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testing ration 0.8 : 0.2 </a:t>
            </a:r>
            <a:endParaRPr lang="bn-BD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344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83F672-9ED4-49CD-91F1-9D1BCB96C383}"/>
              </a:ext>
            </a:extLst>
          </p:cNvPr>
          <p:cNvSpPr/>
          <p:nvPr/>
        </p:nvSpPr>
        <p:spPr>
          <a:xfrm>
            <a:off x="4385405" y="439895"/>
            <a:ext cx="3421189" cy="905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FF3300"/>
              </a:buClr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7D1503C-DB37-44DB-88F8-9AD6DFDBB45E}"/>
              </a:ext>
            </a:extLst>
          </p:cNvPr>
          <p:cNvCxnSpPr>
            <a:cxnSpLocks/>
          </p:cNvCxnSpPr>
          <p:nvPr/>
        </p:nvCxnSpPr>
        <p:spPr>
          <a:xfrm>
            <a:off x="1100831" y="1415906"/>
            <a:ext cx="99429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E619D6A-4889-4BD4-972F-EC2ED3779AA6}"/>
              </a:ext>
            </a:extLst>
          </p:cNvPr>
          <p:cNvSpPr txBox="1"/>
          <p:nvPr/>
        </p:nvSpPr>
        <p:spPr>
          <a:xfrm>
            <a:off x="1338104" y="1897354"/>
            <a:ext cx="60946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Initialization:</a:t>
            </a:r>
            <a:endParaRPr lang="bn-BD" sz="2000" b="1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18304A-9500-4162-9B66-D60CFC1F0F41}"/>
              </a:ext>
            </a:extLst>
          </p:cNvPr>
          <p:cNvSpPr txBox="1"/>
          <p:nvPr/>
        </p:nvSpPr>
        <p:spPr>
          <a:xfrm>
            <a:off x="3231860" y="2411645"/>
            <a:ext cx="68349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pretrained multilingual BERT model (‘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basemultilingual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-cased’)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model, pre-trained on multiple languages</a:t>
            </a:r>
            <a:endParaRPr lang="bn-BD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533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83F672-9ED4-49CD-91F1-9D1BCB96C383}"/>
              </a:ext>
            </a:extLst>
          </p:cNvPr>
          <p:cNvSpPr/>
          <p:nvPr/>
        </p:nvSpPr>
        <p:spPr>
          <a:xfrm>
            <a:off x="4385405" y="439895"/>
            <a:ext cx="3421189" cy="905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FF3300"/>
              </a:buClr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7D1503C-DB37-44DB-88F8-9AD6DFDBB45E}"/>
              </a:ext>
            </a:extLst>
          </p:cNvPr>
          <p:cNvCxnSpPr>
            <a:cxnSpLocks/>
          </p:cNvCxnSpPr>
          <p:nvPr/>
        </p:nvCxnSpPr>
        <p:spPr>
          <a:xfrm>
            <a:off x="1100831" y="1415906"/>
            <a:ext cx="99429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13A78BE-3611-4D41-A8EC-9D71DC321565}"/>
              </a:ext>
            </a:extLst>
          </p:cNvPr>
          <p:cNvSpPr txBox="1"/>
          <p:nvPr/>
        </p:nvSpPr>
        <p:spPr>
          <a:xfrm>
            <a:off x="1503726" y="1583870"/>
            <a:ext cx="60946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Tokenization: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F8765B-083B-466A-BE87-861F7B9F47EB}"/>
              </a:ext>
            </a:extLst>
          </p:cNvPr>
          <p:cNvSpPr txBox="1"/>
          <p:nvPr/>
        </p:nvSpPr>
        <p:spPr>
          <a:xfrm>
            <a:off x="2963411" y="2076086"/>
            <a:ext cx="741377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sentences into numerical representations that the model can process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token is further mapped to an embedding vector.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Sentences longer than the maximum token limit ‘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Lmax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are truncated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shorter sentences are padded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that all inputs have a consistent dimension</a:t>
            </a:r>
            <a:endParaRPr lang="bn-BD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985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83F672-9ED4-49CD-91F1-9D1BCB96C383}"/>
              </a:ext>
            </a:extLst>
          </p:cNvPr>
          <p:cNvSpPr/>
          <p:nvPr/>
        </p:nvSpPr>
        <p:spPr>
          <a:xfrm>
            <a:off x="4385405" y="439895"/>
            <a:ext cx="3421189" cy="905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FF3300"/>
              </a:buClr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7D1503C-DB37-44DB-88F8-9AD6DFDBB45E}"/>
              </a:ext>
            </a:extLst>
          </p:cNvPr>
          <p:cNvCxnSpPr>
            <a:cxnSpLocks/>
          </p:cNvCxnSpPr>
          <p:nvPr/>
        </p:nvCxnSpPr>
        <p:spPr>
          <a:xfrm>
            <a:off x="1100831" y="1415906"/>
            <a:ext cx="99429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2EF70AB-13DA-4868-9835-BF2A7C2F892E}"/>
              </a:ext>
            </a:extLst>
          </p:cNvPr>
          <p:cNvSpPr txBox="1"/>
          <p:nvPr/>
        </p:nvSpPr>
        <p:spPr>
          <a:xfrm>
            <a:off x="1547829" y="1486862"/>
            <a:ext cx="60946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Configuration: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B8CBF1-3B74-44EE-8D84-1B0BC3293F8A}"/>
              </a:ext>
            </a:extLst>
          </p:cNvPr>
          <p:cNvSpPr txBox="1"/>
          <p:nvPr/>
        </p:nvSpPr>
        <p:spPr>
          <a:xfrm>
            <a:off x="4090427" y="1879042"/>
            <a:ext cx="609460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configured with specific hyperparameters.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cross-entropy loss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 = 3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 device train batch size = 8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 device eval batch size = 16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warmup steps = 500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decay = 0.01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logging steps = 10</a:t>
            </a:r>
            <a:endParaRPr lang="bn-BD" dirty="0">
              <a:latin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BC7E3AF-3634-4C91-9A11-5563EA830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389" y="2582843"/>
            <a:ext cx="4328466" cy="981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131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83F672-9ED4-49CD-91F1-9D1BCB96C383}"/>
              </a:ext>
            </a:extLst>
          </p:cNvPr>
          <p:cNvSpPr/>
          <p:nvPr/>
        </p:nvSpPr>
        <p:spPr>
          <a:xfrm>
            <a:off x="4385405" y="439895"/>
            <a:ext cx="3421189" cy="905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FF3300"/>
              </a:buClr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7D1503C-DB37-44DB-88F8-9AD6DFDBB45E}"/>
              </a:ext>
            </a:extLst>
          </p:cNvPr>
          <p:cNvCxnSpPr>
            <a:cxnSpLocks/>
          </p:cNvCxnSpPr>
          <p:nvPr/>
        </p:nvCxnSpPr>
        <p:spPr>
          <a:xfrm>
            <a:off x="1100831" y="1415906"/>
            <a:ext cx="99429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F285B4A-7BCF-47F2-8560-D3391AA433C4}"/>
              </a:ext>
            </a:extLst>
          </p:cNvPr>
          <p:cNvSpPr txBox="1"/>
          <p:nvPr/>
        </p:nvSpPr>
        <p:spPr>
          <a:xfrm>
            <a:off x="1898009" y="1747756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Training:</a:t>
            </a:r>
            <a:endParaRPr lang="bn-BD" b="1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E6AD3A-7CC6-45C6-88B3-C3319F5157E3}"/>
              </a:ext>
            </a:extLst>
          </p:cNvPr>
          <p:cNvSpPr txBox="1"/>
          <p:nvPr/>
        </p:nvSpPr>
        <p:spPr>
          <a:xfrm>
            <a:off x="3392518" y="2222975"/>
            <a:ext cx="609460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Hugging Face Transformers library’s Trainer class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AdamW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optimizer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rule for a model parameter ‘θ’ at step ‘t’ is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bn-BD" dirty="0">
              <a:latin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3B5F40-1A24-4965-AD66-8A8A649B2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540" y="3888083"/>
            <a:ext cx="3105583" cy="5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423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83F672-9ED4-49CD-91F1-9D1BCB96C383}"/>
              </a:ext>
            </a:extLst>
          </p:cNvPr>
          <p:cNvSpPr/>
          <p:nvPr/>
        </p:nvSpPr>
        <p:spPr>
          <a:xfrm>
            <a:off x="3910788" y="325631"/>
            <a:ext cx="4796984" cy="1135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analysis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7D1503C-DB37-44DB-88F8-9AD6DFDBB45E}"/>
              </a:ext>
            </a:extLst>
          </p:cNvPr>
          <p:cNvCxnSpPr>
            <a:cxnSpLocks/>
          </p:cNvCxnSpPr>
          <p:nvPr/>
        </p:nvCxnSpPr>
        <p:spPr>
          <a:xfrm>
            <a:off x="1100831" y="1415906"/>
            <a:ext cx="99429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68C75C4-652C-473A-A67F-BBC43A1C31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958" t="11673" r="29386" b="9452"/>
          <a:stretch/>
        </p:blipFill>
        <p:spPr>
          <a:xfrm>
            <a:off x="6866105" y="1716370"/>
            <a:ext cx="3838248" cy="38541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E82255-3FE1-4522-B9B7-31D75089E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364" y="1903616"/>
            <a:ext cx="3752762" cy="31985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59E409-25B6-487F-8A7F-DD1FEF6342C4}"/>
              </a:ext>
            </a:extLst>
          </p:cNvPr>
          <p:cNvSpPr txBox="1"/>
          <p:nvPr/>
        </p:nvSpPr>
        <p:spPr>
          <a:xfrm>
            <a:off x="7389858" y="5362667"/>
            <a:ext cx="34738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5: Visualization of Frequent Words in Dataset Sentences Using a Word Cloud</a:t>
            </a:r>
            <a:endParaRPr lang="bn-BD" sz="1200" dirty="0">
              <a:latin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EE0853-D554-4DE6-9EE5-29A08B575207}"/>
              </a:ext>
            </a:extLst>
          </p:cNvPr>
          <p:cNvSpPr txBox="1"/>
          <p:nvPr/>
        </p:nvSpPr>
        <p:spPr>
          <a:xfrm>
            <a:off x="2186644" y="5359000"/>
            <a:ext cx="37527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4: Confusion Matrix </a:t>
            </a:r>
            <a:r>
              <a:rPr lang="fr-F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Depicting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Classification </a:t>
            </a:r>
            <a:r>
              <a:rPr lang="fr-F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fr-F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mBERT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  <a:endParaRPr lang="bn-BD" sz="12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551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83F672-9ED4-49CD-91F1-9D1BCB96C383}"/>
              </a:ext>
            </a:extLst>
          </p:cNvPr>
          <p:cNvSpPr/>
          <p:nvPr/>
        </p:nvSpPr>
        <p:spPr>
          <a:xfrm>
            <a:off x="3910788" y="325631"/>
            <a:ext cx="4796984" cy="1135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analysis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7D1503C-DB37-44DB-88F8-9AD6DFDBB45E}"/>
              </a:ext>
            </a:extLst>
          </p:cNvPr>
          <p:cNvCxnSpPr>
            <a:cxnSpLocks/>
          </p:cNvCxnSpPr>
          <p:nvPr/>
        </p:nvCxnSpPr>
        <p:spPr>
          <a:xfrm>
            <a:off x="1100831" y="1415906"/>
            <a:ext cx="99429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B9C2FE07-277C-495F-87A7-952A12A153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522"/>
          <a:stretch/>
        </p:blipFill>
        <p:spPr>
          <a:xfrm>
            <a:off x="2356901" y="2675459"/>
            <a:ext cx="7730824" cy="25398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7ADF61-15CB-4C53-B597-28351ED0FA01}"/>
              </a:ext>
            </a:extLst>
          </p:cNvPr>
          <p:cNvSpPr txBox="1"/>
          <p:nvPr/>
        </p:nvSpPr>
        <p:spPr>
          <a:xfrm>
            <a:off x="2558237" y="2336905"/>
            <a:ext cx="79271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3 : Performance Metrics of Various Models for Bengali Sentence Classification</a:t>
            </a:r>
            <a:endParaRPr lang="bn-BD" sz="16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0611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83F672-9ED4-49CD-91F1-9D1BCB96C383}"/>
              </a:ext>
            </a:extLst>
          </p:cNvPr>
          <p:cNvSpPr/>
          <p:nvPr/>
        </p:nvSpPr>
        <p:spPr>
          <a:xfrm>
            <a:off x="3910788" y="325631"/>
            <a:ext cx="4796984" cy="1135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analysis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7D1503C-DB37-44DB-88F8-9AD6DFDBB45E}"/>
              </a:ext>
            </a:extLst>
          </p:cNvPr>
          <p:cNvCxnSpPr>
            <a:cxnSpLocks/>
          </p:cNvCxnSpPr>
          <p:nvPr/>
        </p:nvCxnSpPr>
        <p:spPr>
          <a:xfrm>
            <a:off x="1100831" y="1415906"/>
            <a:ext cx="99429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AutoShape 2">
            <a:extLst>
              <a:ext uri="{FF2B5EF4-FFF2-40B4-BE49-F238E27FC236}">
                <a16:creationId xmlns:a16="http://schemas.microsoft.com/office/drawing/2014/main" id="{E5695A47-197D-4FE9-9910-949DB1FBE9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225567" cy="3225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n-BD" dirty="0">
              <a:highlight>
                <a:srgbClr val="000000"/>
              </a:highligh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9E8CA2-4640-41A2-A29B-30646515E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087" y="1951749"/>
            <a:ext cx="4971969" cy="26118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A315BA-067B-42D3-B98D-DFD8D1127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831" y="1951750"/>
            <a:ext cx="4716466" cy="24776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A70602-DCAE-422F-9DB3-6C76471FF5D0}"/>
              </a:ext>
            </a:extLst>
          </p:cNvPr>
          <p:cNvSpPr txBox="1"/>
          <p:nvPr/>
        </p:nvSpPr>
        <p:spPr>
          <a:xfrm>
            <a:off x="1473438" y="4636170"/>
            <a:ext cx="43438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6 : Training Loss Progression Across Epochs </a:t>
            </a:r>
            <a:endParaRPr lang="bn-BD" sz="1400" dirty="0">
              <a:latin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495BA7-5C0E-40AB-B03F-C9580F37426E}"/>
              </a:ext>
            </a:extLst>
          </p:cNvPr>
          <p:cNvSpPr txBox="1"/>
          <p:nvPr/>
        </p:nvSpPr>
        <p:spPr>
          <a:xfrm>
            <a:off x="6544305" y="4652892"/>
            <a:ext cx="52497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7 : Validation Loss Progression Across Training Epochs</a:t>
            </a:r>
            <a:endParaRPr lang="bn-BD" sz="1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467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83F672-9ED4-49CD-91F1-9D1BCB96C383}"/>
              </a:ext>
            </a:extLst>
          </p:cNvPr>
          <p:cNvSpPr/>
          <p:nvPr/>
        </p:nvSpPr>
        <p:spPr>
          <a:xfrm>
            <a:off x="3910788" y="325631"/>
            <a:ext cx="4796984" cy="1135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analysis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7D1503C-DB37-44DB-88F8-9AD6DFDBB45E}"/>
              </a:ext>
            </a:extLst>
          </p:cNvPr>
          <p:cNvCxnSpPr>
            <a:cxnSpLocks/>
          </p:cNvCxnSpPr>
          <p:nvPr/>
        </p:nvCxnSpPr>
        <p:spPr>
          <a:xfrm>
            <a:off x="1100831" y="1415906"/>
            <a:ext cx="99429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AutoShape 2">
            <a:extLst>
              <a:ext uri="{FF2B5EF4-FFF2-40B4-BE49-F238E27FC236}">
                <a16:creationId xmlns:a16="http://schemas.microsoft.com/office/drawing/2014/main" id="{E5695A47-197D-4FE9-9910-949DB1FBE9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225567" cy="3225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n-BD" dirty="0">
              <a:highlight>
                <a:srgbClr val="000000"/>
              </a:highligh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8FB86B-126E-4C99-A889-21BD1EF22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611" y="2844736"/>
            <a:ext cx="6535338" cy="129801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7A957C9-F0B9-4A38-B8CC-E16BD95B9BAD}"/>
              </a:ext>
            </a:extLst>
          </p:cNvPr>
          <p:cNvSpPr txBox="1"/>
          <p:nvPr/>
        </p:nvSpPr>
        <p:spPr>
          <a:xfrm>
            <a:off x="2750128" y="2506182"/>
            <a:ext cx="82391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4 : Detailed Class-Wise Performance Metrics for Bengali Sentence Classification</a:t>
            </a:r>
            <a:endParaRPr lang="bn-BD" sz="16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66612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83F672-9ED4-49CD-91F1-9D1BCB96C383}"/>
              </a:ext>
            </a:extLst>
          </p:cNvPr>
          <p:cNvSpPr/>
          <p:nvPr/>
        </p:nvSpPr>
        <p:spPr>
          <a:xfrm>
            <a:off x="4498018" y="288893"/>
            <a:ext cx="2900038" cy="1147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Clr>
                <a:srgbClr val="FF3300"/>
              </a:buClr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7D1503C-DB37-44DB-88F8-9AD6DFDBB45E}"/>
              </a:ext>
            </a:extLst>
          </p:cNvPr>
          <p:cNvCxnSpPr>
            <a:cxnSpLocks/>
          </p:cNvCxnSpPr>
          <p:nvPr/>
        </p:nvCxnSpPr>
        <p:spPr>
          <a:xfrm>
            <a:off x="1100831" y="1415906"/>
            <a:ext cx="99429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7911202-06C8-4117-BD7F-BB4B7CC1CDB3}"/>
              </a:ext>
            </a:extLst>
          </p:cNvPr>
          <p:cNvSpPr txBox="1"/>
          <p:nvPr/>
        </p:nvSpPr>
        <p:spPr>
          <a:xfrm>
            <a:off x="2275512" y="1660912"/>
            <a:ext cx="802616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evaluation achieved </a:t>
            </a:r>
            <a:r>
              <a:rPr lang="bn-BD" dirty="0">
                <a:latin typeface="Times New Roman" panose="02020603050405020304" pitchFamily="18" charset="0"/>
              </a:rPr>
              <a:t>94.08%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significant overfitting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Contribute significantly to the field of Bengali Natural Language Processing (NLP)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the feasibility and potential of using transformer-based models</a:t>
            </a:r>
            <a:endParaRPr lang="bn-BD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7026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83F672-9ED4-49CD-91F1-9D1BCB96C383}"/>
              </a:ext>
            </a:extLst>
          </p:cNvPr>
          <p:cNvSpPr/>
          <p:nvPr/>
        </p:nvSpPr>
        <p:spPr>
          <a:xfrm>
            <a:off x="4498018" y="288893"/>
            <a:ext cx="2900038" cy="1147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Clr>
                <a:srgbClr val="FF3300"/>
              </a:buClr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7D1503C-DB37-44DB-88F8-9AD6DFDBB45E}"/>
              </a:ext>
            </a:extLst>
          </p:cNvPr>
          <p:cNvCxnSpPr>
            <a:cxnSpLocks/>
          </p:cNvCxnSpPr>
          <p:nvPr/>
        </p:nvCxnSpPr>
        <p:spPr>
          <a:xfrm>
            <a:off x="1100831" y="1415906"/>
            <a:ext cx="99429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8115459-1CA6-4C78-9954-01C9314547FA}"/>
              </a:ext>
            </a:extLst>
          </p:cNvPr>
          <p:cNvSpPr txBox="1"/>
          <p:nvPr/>
        </p:nvSpPr>
        <p:spPr>
          <a:xfrm>
            <a:off x="2040622" y="1816027"/>
            <a:ext cx="69020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very large scale dataset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0ptimization could be achieved by exploring alternative architectures or fine-tuning methods.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other South Asian languages</a:t>
            </a:r>
            <a:endParaRPr lang="bn-BD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81535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83F672-9ED4-49CD-91F1-9D1BCB96C383}"/>
              </a:ext>
            </a:extLst>
          </p:cNvPr>
          <p:cNvSpPr/>
          <p:nvPr/>
        </p:nvSpPr>
        <p:spPr>
          <a:xfrm>
            <a:off x="4498018" y="288893"/>
            <a:ext cx="2900038" cy="1147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Clr>
                <a:srgbClr val="FF3300"/>
              </a:buClr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7D1503C-DB37-44DB-88F8-9AD6DFDBB45E}"/>
              </a:ext>
            </a:extLst>
          </p:cNvPr>
          <p:cNvCxnSpPr>
            <a:cxnSpLocks/>
          </p:cNvCxnSpPr>
          <p:nvPr/>
        </p:nvCxnSpPr>
        <p:spPr>
          <a:xfrm>
            <a:off x="1100831" y="1415906"/>
            <a:ext cx="99429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F32022C-7DC5-47E4-940B-2413EBDC7699}"/>
              </a:ext>
            </a:extLst>
          </p:cNvPr>
          <p:cNvSpPr txBox="1"/>
          <p:nvPr/>
        </p:nvSpPr>
        <p:spPr>
          <a:xfrm>
            <a:off x="1100831" y="1761255"/>
            <a:ext cx="994299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Y.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Bengio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“Learning long-term dependencies with gradient descent is difficult,” IEEE Transactions on Neural Networks, vol. 5, no. 2, pp. 157–166, 1994.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A. Graves, “Generating sequences with recurrent neural networks,”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arXiv:1308.0850, 2013.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A. Ahmed and M. Yousuf, Sentiment Analysis on Bangla Text Using Long Short-Term Memory (LSTM) Recurrent Neural Network, 01 2021, pp. 181–192.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S. Sarkar and B. Anupam, “Part-of-speech tagging for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bengali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01 2007.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A.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Velankar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 Patil, and R. Joshi, “Mono vs multilingual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hate speech detection and text classification: A case study in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marathi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in Artificial Neural Networks in Pattern Recognition.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Available at 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https://www.researchgate.net/figure/BERT-model-architecture_fig4_348740926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Available at 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https://data.mendeley.com/datasets/7rx9mk8v4m/3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bn-BD" sz="1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70982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498154-5D43-4C19-8541-5C94C8C9B0AA}"/>
              </a:ext>
            </a:extLst>
          </p:cNvPr>
          <p:cNvSpPr/>
          <p:nvPr/>
        </p:nvSpPr>
        <p:spPr>
          <a:xfrm>
            <a:off x="701336" y="2044857"/>
            <a:ext cx="994299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Clr>
                <a:srgbClr val="FF0000"/>
              </a:buClr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62760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982</Words>
  <Application>Microsoft Office PowerPoint</Application>
  <PresentationFormat>Widescreen</PresentationFormat>
  <Paragraphs>153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Sagor Aich</dc:creator>
  <cp:lastModifiedBy>Sagor Aich</cp:lastModifiedBy>
  <cp:revision>85</cp:revision>
  <dcterms:created xsi:type="dcterms:W3CDTF">2025-02-12T03:26:55Z</dcterms:created>
  <dcterms:modified xsi:type="dcterms:W3CDTF">2025-02-12T08:48:52Z</dcterms:modified>
</cp:coreProperties>
</file>